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56" r:id="rId2"/>
    <p:sldId id="257" r:id="rId3"/>
    <p:sldId id="258" r:id="rId4"/>
    <p:sldId id="263" r:id="rId14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SLIDE (~90 seconds)</a:t>
            </a:r>
          </a:p>
          <a:p/>
          <a:p>
            <a:r>
              <a:t>'Since 2020, over 30 million new retail brokerage accounts have opened in the US — a 3x surge in DIY investors. But under 10% of US public companies get any institutional analyst coverage. The big banks write 200-page reports on Apple and Microsoft. Nobody writes anything on the other 4,500 tickers.'</a:t>
            </a:r>
          </a:p>
          <a:p/>
          <a:p>
            <a:r>
              <a:t>'So if you're a retail investor trying to research a mid-cap stock, your options are: pay thousands for a Bloomberg terminal, read free summaries that are too shallow to trust, or spend 4 to 8 hours yourself — opening 10 tabs, downloading 10-Ks, copying numbers into Excel, building your own charts.'</a:t>
            </a:r>
          </a:p>
          <a:p/>
          <a:p>
            <a:r>
              <a:t>'FinSage collapses that 4-8 hours into under 7 minutes, for about 2 dollars of compute. One button, one PDF, plus a chatbot you can ask follow-up questions.'</a:t>
            </a:r>
          </a:p>
          <a:p/>
          <a:p>
            <a:r>
              <a:t>'Why is this possible now? LLM inference costs dropped 100x in the last 24 months — so an agentic pipeline that would've cost $200 per report two years ago costs $2 today.'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(~1 minute)</a:t>
            </a:r>
          </a:p>
          <a:p/>
          <a:p>
            <a:r>
              <a:t>'We benchmarked FinSage against three frontier systems on the same ticker — AAPL — and scored outputs across seven dimensions.'</a:t>
            </a:r>
          </a:p>
          <a:p/>
          <a:p>
            <a:r>
              <a:t>'FinSage: 8.1. ChatGPT Instant: 3.95. ChatGPT Thinking: 6.9. Claude Opus 4.7: 8.7.'</a:t>
            </a:r>
          </a:p>
          <a:p/>
          <a:p>
            <a:r>
              <a:t>'Two things to call out. First — FinSage WINS on Structure (perfect 10) and Charts &amp; Visuals (9 vs 6 for Opus). That's the payoff of the CAVM pipeline and the VLM self-critique loop. Opus is brilliant at text but it doesn't produce branded, audit-ready PDFs with real matplotlib charts.'</a:t>
            </a:r>
          </a:p>
          <a:p/>
          <a:p>
            <a:r>
              <a:t>'Second — we trail Opus by 0.6 points overall, mostly on Analysis Depth and Thesis Coherence. That's honest. Opus has more raw reasoning horsepower. We close that gap with our roadmap — fine-tuning on labeled analyst reports.'</a:t>
            </a:r>
          </a:p>
          <a:p/>
          <a:p>
            <a:r>
              <a:t>'Against the ChatGPT variants, FinSage is a clean win across every dimension. ChatGPT Instant can't access SEC filings, produces no real charts, and has no structured output.'</a:t>
            </a:r>
          </a:p>
          <a:p/>
          <a:p>
            <a:r>
              <a:t>TAKEAWAY: 'FinSage is the only system in this comparison that's a complete research deliverable — data, analysis, charts, structure, and compliance filtering all in one PDF.'</a:t>
            </a:r>
          </a:p>
          <a:p/>
          <a:p>
            <a:r>
              <a:t>IF ASKED how the scoring worked: 'Blind comparison — same ticker, same date, four outputs scored against a rubric. Full rubric and scoring sheet in our ProjectLog.'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4DB8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pPr indent="0" marL="0">
              <a:buNone/>
            </a:pPr>
            <a:r>
              <a:rPr lang="en-US" sz="2000" b="1" dirty="0">
                <a:solidFill>
                  <a:srgbClr val="72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91640" y="182880"/>
            <a:ext cx="10973" cy="146304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731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2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338560" y="731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Architecture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logical layers — from raw external data to branded PDF + chatbot interface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1 · EXTERNAL DATA SOURCES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D4A843">
              <a:alpha val="12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196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0391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 · OHLCV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42032" y="17830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D4A843">
              <a:alpha val="12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8196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Vantage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42032" y="20391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· metrics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26864" y="17830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D4A843">
              <a:alpha val="12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8196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26864" y="20391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· sentiment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11696" y="17830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D4A843">
              <a:alpha val="12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11696" y="18196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11696" y="20391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filings · PDF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796528" y="17830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D4A843">
              <a:alpha val="12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96528" y="18196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XBRL Loader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96528" y="20391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financials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417320" y="2304288"/>
            <a:ext cx="0" cy="237744"/>
          </a:xfrm>
          <a:prstGeom prst="line">
            <a:avLst/>
          </a:prstGeom>
          <a:noFill/>
          <a:ln w="19050">
            <a:solidFill>
              <a:srgbClr val="4DB8A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502152" y="2304288"/>
            <a:ext cx="0" cy="237744"/>
          </a:xfrm>
          <a:prstGeom prst="line">
            <a:avLst/>
          </a:prstGeom>
          <a:noFill/>
          <a:ln w="19050">
            <a:solidFill>
              <a:srgbClr val="4DB8A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586984" y="2304288"/>
            <a:ext cx="0" cy="237744"/>
          </a:xfrm>
          <a:prstGeom prst="line">
            <a:avLst/>
          </a:prstGeom>
          <a:noFill/>
          <a:ln w="19050">
            <a:solidFill>
              <a:srgbClr val="4DB8A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671816" y="2304288"/>
            <a:ext cx="0" cy="237744"/>
          </a:xfrm>
          <a:prstGeom prst="line">
            <a:avLst/>
          </a:prstGeom>
          <a:noFill/>
          <a:ln w="19050">
            <a:solidFill>
              <a:srgbClr val="4DB8A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56648" y="2304288"/>
            <a:ext cx="0" cy="237744"/>
          </a:xfrm>
          <a:prstGeom prst="line">
            <a:avLst/>
          </a:prstGeom>
          <a:noFill/>
          <a:ln w="19050">
            <a:solidFill>
              <a:srgbClr val="4DB8A4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57200" y="2615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2 · ORCHESTRATION &amp; INGESTION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2834640"/>
            <a:ext cx="8595360" cy="548640"/>
          </a:xfrm>
          <a:prstGeom prst="roundRect">
            <a:avLst>
              <a:gd name="adj" fmla="val 16667"/>
            </a:avLst>
          </a:prstGeom>
          <a:solidFill>
            <a:srgbClr val="2D6FA0">
              <a:alpha val="10000"/>
            </a:srgbClr>
          </a:solidFill>
          <a:ln w="12700">
            <a:solidFill>
              <a:srgbClr val="2D6F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28712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· Idempotent Loaders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312724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DAGs · MERGE statements · data_loaders/ · quality_score per record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38160" y="30175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D6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refresh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3401568"/>
            <a:ext cx="0" cy="201168"/>
          </a:xfrm>
          <a:prstGeom prst="line">
            <a:avLst/>
          </a:prstGeom>
          <a:noFill/>
          <a:ln w="19050">
            <a:solidFill>
              <a:srgbClr val="4DB8A4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57200" y="36576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3 · DATA WAREHOUSE · SNOWFLAKE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85876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2D6FA0">
              <a:alpha val="10000"/>
            </a:srgbClr>
          </a:solidFill>
          <a:ln w="12700">
            <a:solidFill>
              <a:srgbClr val="2D6F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8953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Schema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4133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Source-of-truth · immutable · lineage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8640" y="4343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stock_prices · news · sec_filings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18688" y="4215384"/>
            <a:ext cx="118872" cy="0"/>
          </a:xfrm>
          <a:prstGeom prst="line">
            <a:avLst/>
          </a:prstGeom>
          <a:noFill/>
          <a:ln w="19050">
            <a:solidFill>
              <a:srgbClr val="4DB8A4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355848" y="385876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4DB8A4">
              <a:alpha val="10000"/>
            </a:srgbClr>
          </a:solidFill>
          <a:ln w="12700">
            <a:solidFill>
              <a:srgbClr val="4DB8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47288" y="38953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B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Schema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447288" y="4133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views · cleaning · type casting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447288" y="4343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DB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stg_news · stg_sec_filings · 4 models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17336" y="4215384"/>
            <a:ext cx="118872" cy="0"/>
          </a:xfrm>
          <a:prstGeom prst="line">
            <a:avLst/>
          </a:prstGeom>
          <a:noFill/>
          <a:ln w="19050">
            <a:solidFill>
              <a:srgbClr val="4DB8A4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254496" y="385876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1A3055">
              <a:alpha val="10000"/>
            </a:srgbClr>
          </a:solidFill>
          <a:ln w="12700">
            <a:solidFill>
              <a:srgbClr val="1A30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45936" y="38953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Schema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45936" y="4133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fact tables · tested · documented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345936" y="4343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fct_stock_metrics · 5 models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15200" y="4590288"/>
            <a:ext cx="0" cy="201168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457200" y="4846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4 · MULTI-AGENT AI PIPELINE (CAVM)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5047488"/>
            <a:ext cx="8595360" cy="640080"/>
          </a:xfrm>
          <a:prstGeom prst="roundRect">
            <a:avLst>
              <a:gd name="adj" fmla="val 14286"/>
            </a:avLst>
          </a:prstGeom>
          <a:solidFill>
            <a:srgbClr val="D4A843">
              <a:alpha val="1500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4360" y="513892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4A84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5175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Chart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94360" y="53675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+ 3× VLM refine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578608" y="5367528"/>
            <a:ext cx="109728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715768" y="513892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4A84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15768" y="5175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Validation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715768" y="53675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 · abort if &gt;2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700016" y="5367528"/>
            <a:ext cx="109728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4837176" y="513892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4A84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37176" y="5175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Analysis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837176" y="53675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per-chart + SEC summarize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821424" y="5367528"/>
            <a:ext cx="109728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6958584" y="513892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4A84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58584" y="5175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Report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958584" y="53675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branded PDF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754880" y="5696712"/>
            <a:ext cx="0" cy="182880"/>
          </a:xfrm>
          <a:prstGeom prst="line">
            <a:avLst/>
          </a:prstGeom>
          <a:noFill/>
          <a:ln w="19050">
            <a:solidFill>
              <a:srgbClr val="1A3055"/>
            </a:solidFill>
            <a:prstDash val="solid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457200" y="592531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3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6 · PRESENTATION LAYER · React dashboard + branded PDF + interactive chatbot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9235440" y="26151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5 · AI SERVICES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235440" y="2834640"/>
            <a:ext cx="2496312" cy="2852928"/>
          </a:xfrm>
          <a:prstGeom prst="roundRect">
            <a:avLst>
              <a:gd name="adj" fmla="val 3663"/>
            </a:avLst>
          </a:prstGeom>
          <a:solidFill>
            <a:srgbClr val="1A3055">
              <a:alpha val="7000"/>
            </a:srgbClr>
          </a:solidFill>
          <a:ln w="12700">
            <a:solidFill>
              <a:srgbClr val="1A30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372600" y="29260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9372600" y="3145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 · SUMMARIZE · VLM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372600" y="3447288"/>
            <a:ext cx="2194560" cy="0"/>
          </a:xfrm>
          <a:prstGeom prst="line">
            <a:avLst/>
          </a:prstGeom>
          <a:noFill/>
          <a:ln w="6350">
            <a:solidFill>
              <a:srgbClr val="1A3055">
                <a:alpha val="2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72600" y="3593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9372600" y="3813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 · KB · multi-model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372600" y="4114800"/>
            <a:ext cx="2194560" cy="0"/>
          </a:xfrm>
          <a:prstGeom prst="line">
            <a:avLst/>
          </a:prstGeom>
          <a:noFill/>
          <a:ln w="6350">
            <a:solidFill>
              <a:srgbClr val="1A3055">
                <a:alpha val="2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372600" y="4261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9372600" y="4480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orchestration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9372600" y="4782312"/>
            <a:ext cx="2194560" cy="0"/>
          </a:xfrm>
          <a:prstGeom prst="line">
            <a:avLst/>
          </a:prstGeom>
          <a:noFill/>
          <a:ln w="6350">
            <a:solidFill>
              <a:srgbClr val="1A3055">
                <a:alpha val="2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372600" y="49286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9372600" y="51480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· Mistral · Llama · Titan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3EEE2"/>
          </a:solidFill>
          <a:ln/>
        </p:spPr>
      </p:sp>
      <p:sp>
        <p:nvSpPr>
          <p:cNvPr id="86" name="Shape 84"/>
          <p:cNvSpPr/>
          <p:nvPr/>
        </p:nvSpPr>
        <p:spPr>
          <a:xfrm>
            <a:off x="457200" y="6172200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7" name="Text 85"/>
          <p:cNvSpPr/>
          <p:nvPr/>
        </p:nvSpPr>
        <p:spPr>
          <a:xfrm>
            <a:off x="685800" y="6199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this shows: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top-down through six layers — external sources are ingested by Airflow, landed in Snowflake's three-schema warehouse, consumed by four CAVM agents calling Snowflake Cortex and AWS Bedrock, and finally rendered as a branded PDF plus interactive chatbot.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4DB8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pPr indent="0" marL="0">
              <a:buNone/>
            </a:pPr>
            <a:r>
              <a:rPr lang="en-US" sz="2000" b="1" dirty="0">
                <a:solidFill>
                  <a:srgbClr val="72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91640" y="182880"/>
            <a:ext cx="10973" cy="146304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731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2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338560" y="731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From Raw Input to PDF Output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Six-stage pipeline — every byte from external API to final deliverable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" y="1600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48256" y="1600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13632" y="1600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· INDEX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779008" y="1600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644384" y="1600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509760" y="1600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187452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3EEE2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" y="1984248"/>
            <a:ext cx="603504" cy="603504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" y="2633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25880" y="2286000"/>
            <a:ext cx="1170432" cy="0"/>
          </a:xfrm>
          <a:prstGeom prst="line">
            <a:avLst/>
          </a:prstGeom>
          <a:noFill/>
          <a:ln w="19050">
            <a:solidFill>
              <a:srgbClr val="4DB8A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69464" y="1984248"/>
            <a:ext cx="603504" cy="603504"/>
          </a:xfrm>
          <a:prstGeom prst="ellipse">
            <a:avLst/>
          </a:prstGeom>
          <a:solidFill>
            <a:srgbClr val="E8C56A"/>
          </a:solidFill>
          <a:ln/>
        </p:spPr>
      </p:sp>
      <p:sp>
        <p:nvSpPr>
          <p:cNvPr id="22" name="Text 20"/>
          <p:cNvSpPr/>
          <p:nvPr/>
        </p:nvSpPr>
        <p:spPr>
          <a:xfrm>
            <a:off x="2569464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002536" y="2633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Model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91256" y="2286000"/>
            <a:ext cx="1170432" cy="0"/>
          </a:xfrm>
          <a:prstGeom prst="line">
            <a:avLst/>
          </a:prstGeom>
          <a:noFill/>
          <a:ln w="19050">
            <a:solidFill>
              <a:srgbClr val="4DB8A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434840" y="1984248"/>
            <a:ext cx="603504" cy="603504"/>
          </a:xfrm>
          <a:prstGeom prst="ellipse">
            <a:avLst/>
          </a:prstGeom>
          <a:solidFill>
            <a:srgbClr val="72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67912" y="2633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Index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56632" y="2286000"/>
            <a:ext cx="1170432" cy="0"/>
          </a:xfrm>
          <a:prstGeom prst="line">
            <a:avLst/>
          </a:prstGeom>
          <a:noFill/>
          <a:ln w="19050">
            <a:solidFill>
              <a:srgbClr val="4DB8A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300216" y="1984248"/>
            <a:ext cx="603504" cy="603504"/>
          </a:xfrm>
          <a:prstGeom prst="ellipse">
            <a:avLst/>
          </a:prstGeom>
          <a:solidFill>
            <a:srgbClr val="4DB8A4"/>
          </a:solidFill>
          <a:ln/>
        </p:spPr>
      </p:sp>
      <p:sp>
        <p:nvSpPr>
          <p:cNvPr id="30" name="Text 28"/>
          <p:cNvSpPr/>
          <p:nvPr/>
        </p:nvSpPr>
        <p:spPr>
          <a:xfrm>
            <a:off x="6300216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733288" y="2633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22008" y="2286000"/>
            <a:ext cx="1170432" cy="0"/>
          </a:xfrm>
          <a:prstGeom prst="line">
            <a:avLst/>
          </a:prstGeom>
          <a:noFill/>
          <a:ln w="19050">
            <a:solidFill>
              <a:srgbClr val="4DB8A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165592" y="1984248"/>
            <a:ext cx="603504" cy="603504"/>
          </a:xfrm>
          <a:prstGeom prst="ellipse">
            <a:avLst/>
          </a:prstGeom>
          <a:solidFill>
            <a:srgbClr val="2D6FA0"/>
          </a:solidFill>
          <a:ln/>
        </p:spPr>
      </p:sp>
      <p:sp>
        <p:nvSpPr>
          <p:cNvPr id="34" name="Text 32"/>
          <p:cNvSpPr/>
          <p:nvPr/>
        </p:nvSpPr>
        <p:spPr>
          <a:xfrm>
            <a:off x="8165592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598664" y="2633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787384" y="2286000"/>
            <a:ext cx="1170432" cy="0"/>
          </a:xfrm>
          <a:prstGeom prst="line">
            <a:avLst/>
          </a:prstGeom>
          <a:noFill/>
          <a:ln w="19050">
            <a:solidFill>
              <a:srgbClr val="4DB8A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030968" y="1984248"/>
            <a:ext cx="603504" cy="603504"/>
          </a:xfrm>
          <a:prstGeom prst="ellipse">
            <a:avLst/>
          </a:prstGeom>
          <a:solidFill>
            <a:srgbClr val="1A3055"/>
          </a:solidFill>
          <a:ln/>
        </p:spPr>
      </p:sp>
      <p:sp>
        <p:nvSpPr>
          <p:cNvPr id="38" name="Text 36"/>
          <p:cNvSpPr/>
          <p:nvPr/>
        </p:nvSpPr>
        <p:spPr>
          <a:xfrm>
            <a:off x="10030968" y="1984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464040" y="2633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PDF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37160" y="306324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F3EEE2"/>
          </a:solidFill>
          <a:ln w="635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136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8600" y="3337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Ticker: AAPL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external APIs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 10-K PDFs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28600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3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28600" y="432511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data_loaders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idempotent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Snowflake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02536" y="306324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F3EEE2"/>
          </a:solidFill>
          <a:ln w="635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93976" y="3136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093976" y="3337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tables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Typed + deduped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quality_score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093976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3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093976" y="432511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 build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staging views +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fact tables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67912" y="306324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F3EEE2"/>
          </a:solidFill>
          <a:ln w="635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59352" y="3136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959352" y="3337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 filing 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Chunked passages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Metadata tags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59352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3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959352" y="432511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Embeddings 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(vector store)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733288" y="306324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F3EEE2"/>
          </a:solidFill>
          <a:ln w="635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24728" y="3136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824728" y="3337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+ ticker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Analytics tables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Bedrock KB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824728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3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24728" y="432511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Snowpark SQL fetches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facts + KB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top-k passages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598664" y="306324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F3EEE2"/>
          </a:solidFill>
          <a:ln w="635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90104" y="3136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690104" y="3337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+ facts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Chart images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templates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690104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3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690104" y="432511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 call Cortex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Mistral 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+ Bedrock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464040" y="3063240"/>
            <a:ext cx="1737360" cy="2194560"/>
          </a:xfrm>
          <a:prstGeom prst="roundRect">
            <a:avLst>
              <a:gd name="adj" fmla="val 4211"/>
            </a:avLst>
          </a:prstGeom>
          <a:solidFill>
            <a:srgbClr val="F3EEE2"/>
          </a:solidFill>
          <a:ln w="635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555480" y="3136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555480" y="3337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Validated charts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Written analysis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Citations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555480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3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555480" y="432511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assembles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page PDF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chatbot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5440680"/>
            <a:ext cx="11247120" cy="594360"/>
          </a:xfrm>
          <a:prstGeom prst="roundRect">
            <a:avLst>
              <a:gd name="adj" fmla="val 12308"/>
            </a:avLst>
          </a:prstGeom>
          <a:solidFill>
            <a:srgbClr val="1A3055"/>
          </a:solidFill>
          <a:ln/>
        </p:spPr>
      </p:sp>
      <p:sp>
        <p:nvSpPr>
          <p:cNvPr id="71" name="Text 69"/>
          <p:cNvSpPr/>
          <p:nvPr/>
        </p:nvSpPr>
        <p:spPr>
          <a:xfrm>
            <a:off x="182880" y="5468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2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90 s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137160" y="5760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048256" y="5468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2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60 s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2002536" y="5760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build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913632" y="5468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2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N/req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3867912" y="5760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pre-indexed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779008" y="5468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2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5 s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5733288" y="5760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644384" y="5468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2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 min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7598664" y="5760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 gen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9509760" y="5468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7 min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9464040" y="5760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3EEE2"/>
          </a:solidFill>
          <a:ln/>
        </p:spPr>
      </p:sp>
      <p:sp>
        <p:nvSpPr>
          <p:cNvPr id="84" name="Shape 82"/>
          <p:cNvSpPr/>
          <p:nvPr/>
        </p:nvSpPr>
        <p:spPr>
          <a:xfrm>
            <a:off x="457200" y="6172200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5" name="Text 83"/>
          <p:cNvSpPr/>
          <p:nvPr/>
        </p:nvSpPr>
        <p:spPr>
          <a:xfrm>
            <a:off x="685800" y="6199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this shows: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Six-stage data pipeline with input/output per stage. Timings across the bottom quantify each phase — total end-to-end generation under 7 minutes.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4DB8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pPr indent="0" marL="0">
              <a:buNone/>
            </a:pPr>
            <a:r>
              <a:rPr lang="en-US" sz="2000" b="1" dirty="0">
                <a:solidFill>
                  <a:srgbClr val="72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91640" y="182880"/>
            <a:ext cx="10973" cy="146304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731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2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MULTI-AGENT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338560" y="731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CAVM — The Chain-of-Analysis Multi-Agent Loop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collaborating AI agents with a self-critiquing VLM feedback loop  (VLM = Vision Language Model that can inspect images)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1A3055">
              <a:alpha val="8000"/>
            </a:srgbClr>
          </a:solidFill>
          <a:ln w="12700">
            <a:solidFill>
              <a:srgbClr val="1A30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Analytics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1901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fct_stock_metrics · 5 tables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92808" y="1920240"/>
            <a:ext cx="192024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03120" y="1508760"/>
            <a:ext cx="3886200" cy="3017520"/>
          </a:xfrm>
          <a:prstGeom prst="roundRect">
            <a:avLst>
              <a:gd name="adj" fmla="val 3030"/>
            </a:avLst>
          </a:prstGeom>
          <a:solidFill>
            <a:srgbClr val="D4A843">
              <a:alpha val="1000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1572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402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Agent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240280" y="2130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8 matplotlib charts with self-refinement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0" y="246888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514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27614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matplotlib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86000" y="2944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exec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80360" y="3127248"/>
            <a:ext cx="0" cy="18288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86000" y="333756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3383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36301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VLM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86000" y="38130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cortex.COMPLETE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93008" y="3657600"/>
            <a:ext cx="18288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703320" y="333756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3383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03320" y="36301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feedback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03320" y="38130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regenerate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97680" y="3337560"/>
            <a:ext cx="0" cy="-978408"/>
          </a:xfrm>
          <a:prstGeom prst="line">
            <a:avLst/>
          </a:prstGeom>
          <a:noFill/>
          <a:ln w="19050">
            <a:solidFill>
              <a:srgbClr val="C7562A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297680" y="2359152"/>
            <a:ext cx="-1417320" cy="0"/>
          </a:xfrm>
          <a:prstGeom prst="line">
            <a:avLst/>
          </a:prstGeom>
          <a:noFill/>
          <a:ln w="19050">
            <a:solidFill>
              <a:srgbClr val="C7562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2880360" y="2359152"/>
            <a:ext cx="0" cy="109728"/>
          </a:xfrm>
          <a:prstGeom prst="line">
            <a:avLst/>
          </a:prstGeom>
          <a:noFill/>
          <a:ln w="19050">
            <a:solidFill>
              <a:srgbClr val="C7562A"/>
            </a:solidFill>
            <a:prstDash val="dash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5029200" y="228600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75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· max 3×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120640" y="3337560"/>
            <a:ext cx="777240" cy="640080"/>
          </a:xfrm>
          <a:prstGeom prst="roundRect">
            <a:avLst>
              <a:gd name="adj" fmla="val 8571"/>
            </a:avLst>
          </a:prstGeom>
          <a:solidFill>
            <a:srgbClr val="1A3055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3383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× 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363016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20640" y="3794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images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937760" y="3657600"/>
            <a:ext cx="164592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286000" y="4160520"/>
            <a:ext cx="3611880" cy="292608"/>
          </a:xfrm>
          <a:prstGeom prst="roundRect">
            <a:avLst>
              <a:gd name="adj" fmla="val 12500"/>
            </a:avLst>
          </a:prstGeom>
          <a:solidFill>
            <a:srgbClr val="1A3055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0" y="41605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</a:t>
            </a:r>
            <a:pPr algn="ctr" indent="0" marL="0">
              <a:buNone/>
            </a:pPr>
            <a:r>
              <a:rPr lang="en-US" sz="900" dirty="0">
                <a:solidFill>
                  <a:srgbClr val="E8D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iter    </a:t>
            </a:r>
            <a:pPr algn="ctr" indent="0" marL="0">
              <a:buNone/>
            </a:pPr>
            <a:r>
              <a:rPr lang="en-US" sz="1000" b="1" dirty="0">
                <a:solidFill>
                  <a:srgbClr val="E8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ctr" indent="0" marL="0">
              <a:buNone/>
            </a:pPr>
            <a:r>
              <a:rPr lang="en-US" sz="900" dirty="0">
                <a:solidFill>
                  <a:srgbClr val="E8D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charts    </a:t>
            </a:r>
            <a:pPr algn="ctr" indent="0" marL="0">
              <a:buNone/>
            </a:pPr>
            <a:r>
              <a:rPr lang="en-US" sz="1000" b="1" dirty="0">
                <a:solidFill>
                  <a:srgbClr val="E8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97%</a:t>
            </a:r>
            <a:pPr algn="ctr" indent="0" marL="0">
              <a:buNone/>
            </a:pPr>
            <a:r>
              <a:rPr lang="en-US" sz="900" dirty="0">
                <a:solidFill>
                  <a:srgbClr val="E8D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pass    </a:t>
            </a:r>
            <a:pPr algn="ctr" indent="0" marL="0">
              <a:buNone/>
            </a:pPr>
            <a:r>
              <a:rPr lang="en-US" sz="1000" b="1" dirty="0">
                <a:solidFill>
                  <a:srgbClr val="E8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</a:t>
            </a:r>
            <a:pPr algn="ctr" indent="0" marL="0">
              <a:buNone/>
            </a:pPr>
            <a:r>
              <a:rPr lang="en-US" sz="900" dirty="0">
                <a:solidFill>
                  <a:srgbClr val="E8DD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total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16752" y="2651760"/>
            <a:ext cx="22860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263640" y="150876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4DB8A4">
              <a:alpha val="10000"/>
            </a:srgbClr>
          </a:solidFill>
          <a:ln w="19050">
            <a:solidFill>
              <a:srgbClr val="4DB8A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1572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8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02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400800" y="21031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quality check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080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Re-inspects each PNG with VLM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values vs 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Aborts if &gt; 2 charts fail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89520" y="2971800"/>
            <a:ext cx="0" cy="18288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263640" y="315468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2D6FA0">
              <a:alpha val="8000"/>
            </a:srgbClr>
          </a:solidFill>
          <a:ln w="19050">
            <a:solidFill>
              <a:srgbClr val="2D6F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32186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6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03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0" y="34198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Agent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6400800" y="3739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narrative per chart + SEC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00800" y="3950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tied to numbers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SUMMARIZE over 10-K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979408" y="3017520"/>
            <a:ext cx="210312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208008" y="15087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1A3055">
              <a:alpha val="7000"/>
            </a:srgbClr>
          </a:solidFill>
          <a:ln w="19050">
            <a:solidFill>
              <a:srgbClr val="1A30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45168" y="1572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3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04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345168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Agent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9345168" y="2130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branded final PDF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345168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builder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Teal theme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pages + citations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0259568" y="3108960"/>
            <a:ext cx="640080" cy="960120"/>
          </a:xfrm>
          <a:prstGeom prst="roundRect">
            <a:avLst>
              <a:gd name="adj" fmla="val 5714"/>
            </a:avLst>
          </a:prstGeom>
          <a:solidFill>
            <a:srgbClr val="1A3055"/>
          </a:solidFill>
          <a:ln/>
        </p:spPr>
      </p:sp>
      <p:sp>
        <p:nvSpPr>
          <p:cNvPr id="62" name="Shape 60"/>
          <p:cNvSpPr/>
          <p:nvPr/>
        </p:nvSpPr>
        <p:spPr>
          <a:xfrm>
            <a:off x="10314432" y="3273552"/>
            <a:ext cx="530352" cy="54864"/>
          </a:xfrm>
          <a:prstGeom prst="rect">
            <a:avLst/>
          </a:prstGeom>
          <a:solidFill>
            <a:srgbClr val="72D4BF"/>
          </a:solidFill>
          <a:ln/>
        </p:spPr>
      </p:sp>
      <p:sp>
        <p:nvSpPr>
          <p:cNvPr id="63" name="Shape 61"/>
          <p:cNvSpPr/>
          <p:nvPr/>
        </p:nvSpPr>
        <p:spPr>
          <a:xfrm>
            <a:off x="10314432" y="3355848"/>
            <a:ext cx="384048" cy="45720"/>
          </a:xfrm>
          <a:prstGeom prst="rect">
            <a:avLst/>
          </a:prstGeom>
          <a:solidFill>
            <a:srgbClr val="E8C56A"/>
          </a:solidFill>
          <a:ln/>
        </p:spPr>
      </p:sp>
      <p:sp>
        <p:nvSpPr>
          <p:cNvPr id="64" name="Shape 62"/>
          <p:cNvSpPr/>
          <p:nvPr/>
        </p:nvSpPr>
        <p:spPr>
          <a:xfrm>
            <a:off x="10314432" y="3456432"/>
            <a:ext cx="530352" cy="164592"/>
          </a:xfrm>
          <a:prstGeom prst="rect">
            <a:avLst/>
          </a:prstGeom>
          <a:solidFill>
            <a:srgbClr val="E8C56A">
              <a:alpha val="5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314432" y="3675888"/>
            <a:ext cx="53035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0314432" y="3739896"/>
            <a:ext cx="4114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0314432" y="3803904"/>
            <a:ext cx="48463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0314432" y="3867912"/>
            <a:ext cx="347472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9326880" y="416052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326880" y="433425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AAPL_20260418.pdf + chatbot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800600"/>
            <a:ext cx="11640312" cy="868680"/>
          </a:xfrm>
          <a:prstGeom prst="roundRect">
            <a:avLst>
              <a:gd name="adj" fmla="val 10526"/>
            </a:avLst>
          </a:prstGeom>
          <a:solidFill>
            <a:srgbClr val="1A3055"/>
          </a:solidFill>
          <a:ln/>
        </p:spPr>
      </p:sp>
      <p:sp>
        <p:nvSpPr>
          <p:cNvPr id="72" name="Text 7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CROSS-CUTTING · GUARDRAILS &amp; SAFETY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5074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Guardrails + Multi-Model Consensus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457200" y="5349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response passes through guardrails (blocks investment advice, PII, hallucinations) before reaching any user-facing surface.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57200" y="58064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flow: solid gold    |    Feedback loop: dashed orange (VLM self-refine)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3EEE2"/>
          </a:solidFill>
          <a:ln/>
        </p:spPr>
      </p:sp>
      <p:sp>
        <p:nvSpPr>
          <p:cNvPr id="77" name="Shape 75"/>
          <p:cNvSpPr/>
          <p:nvPr/>
        </p:nvSpPr>
        <p:spPr>
          <a:xfrm>
            <a:off x="457200" y="6172200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8" name="Text 76"/>
          <p:cNvSpPr/>
          <p:nvPr/>
        </p:nvSpPr>
        <p:spPr>
          <a:xfrm>
            <a:off x="685800" y="6199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this shows: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Agent 01 runs a three-stage feedback loop (generate → critique → refine) up to 3× per chart using Claude's vision model. Validated charts pass through Validation, Analysis, and Report agents in sequence. Bedrock Guardrails filter every LLM response crossing a user boundary.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4DB8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pPr indent="0" marL="0">
              <a:buNone/>
            </a:pPr>
            <a:r>
              <a:rPr lang="en-US" sz="2000" b="1" dirty="0">
                <a:solidFill>
                  <a:srgbClr val="72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91640" y="182880"/>
            <a:ext cx="10973" cy="146304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731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2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CHALLENGES &amp; LESSONS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338560" y="731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 Learned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broke, how we fixed it, what we'd do differently next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3EEE2">
              <a:alpha val="7000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00200"/>
            <a:ext cx="5532120" cy="365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1848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01 · HALLUCINATION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51960" y="16184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RELIABILITY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0116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invented financial figures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75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25603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Analysis Agent cited plausible-but-wrong numbers (e.g. 'Q3 revenue $94.8B' when actual was $89.5B).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A8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31089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grounding: every numeric claim must cite a Snowflake row. Validation Agent rejects ungrounded output.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52044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1A305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5204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LESSON  </a:t>
            </a:r>
            <a:pPr indent="0" marL="0">
              <a:buNone/>
            </a:pPr>
            <a:r>
              <a:rPr lang="en-US" sz="950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must be 'caged' with external validators — prompt engineering alone isn't enough.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09360" y="160020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3EEE2">
              <a:alpha val="70000"/>
            </a:srgbClr>
          </a:solidFill>
          <a:ln w="19050">
            <a:solidFill>
              <a:srgbClr val="2D6F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600200"/>
            <a:ext cx="5532120" cy="365760"/>
          </a:xfrm>
          <a:prstGeom prst="rect">
            <a:avLst/>
          </a:prstGeom>
          <a:solidFill>
            <a:srgbClr val="2D6FA0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161848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02 · CHART QUALITY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95560" y="16184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QUALITY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46520" y="20116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charts looked unprofessional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75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46520" y="25603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matplotlib output: overlapping labels, wrong axis scales, cluttered legends — not report-ready.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2926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A8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46520" y="310896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VLM self-critique loop: Claude's vision model inspects the PNG, suggests fixes, regenerates (up to 3×).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46520" y="352044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1A3055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5204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LESSON  </a:t>
            </a:r>
            <a:pPr indent="0" marL="0">
              <a:buNone/>
            </a:pPr>
            <a:r>
              <a:rPr lang="en-US" sz="950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self-critique beats rule-based styling for subjective output quality.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97764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3EEE2">
              <a:alpha val="70000"/>
            </a:srgbClr>
          </a:solidFill>
          <a:ln w="19050">
            <a:solidFill>
              <a:srgbClr val="4DB8A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977640"/>
            <a:ext cx="5532120" cy="365760"/>
          </a:xfrm>
          <a:prstGeom prst="rect">
            <a:avLst/>
          </a:prstGeom>
          <a:solidFill>
            <a:srgbClr val="4DB8A4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9592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03 · DATA QUALITY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51960" y="399592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43891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APIs returned inconsistent data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2920" y="4754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75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" y="49377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vs Alpha Vantage disagreed on P/E ratios; NewsAPI returned duplicates; some fields were null.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5303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A8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548640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 on every staging model; computed quality_score per record; downstream analysis weights higher-quality sources.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89788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1A3055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58978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LESSON  </a:t>
            </a:r>
            <a:pPr indent="0" marL="0">
              <a:buNone/>
            </a:pPr>
            <a:r>
              <a:rPr lang="en-US" sz="950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a first-class feature — build it into the pipeline early.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09360" y="397764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F3EEE2">
              <a:alpha val="70000"/>
            </a:srgbClr>
          </a:solidFill>
          <a:ln w="19050">
            <a:solidFill>
              <a:srgbClr val="1A30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3977640"/>
            <a:ext cx="5532120" cy="36576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399592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04 · COST &amp; LATENCY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195560" y="399592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46520" y="43891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prototype: $12 &amp; 23 min per report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446520" y="4754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75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46520" y="49377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round-trips to external LLM APIs; redundant context in every call; used GPT-4 for trivial tasks.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46520" y="5303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A8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46520" y="548640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to Cortex (in-warehouse) + right-sized models: Mistral for summaries, Claude for VLM, Llama for chat.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46520" y="5897880"/>
            <a:ext cx="5257800" cy="274320"/>
          </a:xfrm>
          <a:prstGeom prst="roundRect">
            <a:avLst>
              <a:gd name="adj" fmla="val 13333"/>
            </a:avLst>
          </a:prstGeom>
          <a:solidFill>
            <a:srgbClr val="1A3055"/>
          </a:solidFill>
          <a:ln/>
        </p:spPr>
      </p:sp>
      <p:sp>
        <p:nvSpPr>
          <p:cNvPr id="53" name="Text 51"/>
          <p:cNvSpPr/>
          <p:nvPr/>
        </p:nvSpPr>
        <p:spPr>
          <a:xfrm>
            <a:off x="6537960" y="58978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RESULT  </a:t>
            </a:r>
            <a:pPr indent="0" marL="0">
              <a:buNone/>
            </a:pPr>
            <a:r>
              <a:rPr lang="en-US" sz="950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 → ~$2 per report · 23 min → &lt;7 min (6× faster, 6× cheaper).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3EEE2"/>
          </a:solidFill>
          <a:ln/>
        </p:spPr>
      </p:sp>
      <p:sp>
        <p:nvSpPr>
          <p:cNvPr id="55" name="Shape 53"/>
          <p:cNvSpPr/>
          <p:nvPr/>
        </p:nvSpPr>
        <p:spPr>
          <a:xfrm>
            <a:off x="457200" y="6172200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" y="6199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this shows: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real problems that surfaced during development, the concrete fix, and the generalizable lesson. Honest engineering, not polished marketing.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4DB8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pPr indent="0" marL="0">
              <a:buNone/>
            </a:pPr>
            <a:r>
              <a:rPr lang="en-US" sz="2000" b="1" dirty="0">
                <a:solidFill>
                  <a:srgbClr val="72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91640" y="182880"/>
            <a:ext cx="10973" cy="146304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731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2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338560" y="731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&amp; Roadmap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we'd take FinSage with more time — toward production readiness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11247120" cy="365760"/>
          </a:xfrm>
          <a:prstGeom prst="roundRect">
            <a:avLst>
              <a:gd name="adj" fmla="val 15000"/>
            </a:avLst>
          </a:prstGeom>
          <a:solidFill>
            <a:srgbClr val="1A30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727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 · PRODUCTION PATH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15727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→ 3 months → 6 months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011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 1 · NEXT MONTH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194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24528" y="2011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DB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 2 · 3 MONTHS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24528" y="2194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maturity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91856" y="2011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A3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 3 · 6 MONTHS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91856" y="2194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3712464" cy="1600200"/>
          </a:xfrm>
          <a:prstGeom prst="roundRect">
            <a:avLst>
              <a:gd name="adj" fmla="val 4571"/>
            </a:avLst>
          </a:prstGeom>
          <a:solidFill>
            <a:srgbClr val="F3EEE2">
              <a:alpha val="70000"/>
            </a:srgbClr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60604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256032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Ticker Coverage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2798064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 to 500+ tickers — all S&amp;P 500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154680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 data loaders &amp; dbt models; schedule universal daily refresh via Airflow.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767328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effort: 2 weeks · low risk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3712464" cy="1600200"/>
          </a:xfrm>
          <a:prstGeom prst="roundRect">
            <a:avLst>
              <a:gd name="adj" fmla="val 4571"/>
            </a:avLst>
          </a:prstGeom>
          <a:solidFill>
            <a:srgbClr val="F3EEE2">
              <a:alpha val="70000"/>
            </a:srgbClr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29768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425196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Report Delivery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51560" y="4489704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daily/weekly reports to subscribers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4846320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saves ticker watchlist → Airflow triggers pipeline → SES delivers PDF attachment.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5458968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effort: 3 weeks · AWS SES + auth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24528" y="2468880"/>
            <a:ext cx="3712464" cy="1600200"/>
          </a:xfrm>
          <a:prstGeom prst="roundRect">
            <a:avLst>
              <a:gd name="adj" fmla="val 4571"/>
            </a:avLst>
          </a:prstGeom>
          <a:solidFill>
            <a:srgbClr val="F3EEE2">
              <a:alpha val="70000"/>
            </a:srgbClr>
          </a:solidFill>
          <a:ln w="15240">
            <a:solidFill>
              <a:srgbClr val="4DB8A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61688" y="2606040"/>
            <a:ext cx="365760" cy="365760"/>
          </a:xfrm>
          <a:prstGeom prst="ellipse">
            <a:avLst/>
          </a:prstGeom>
          <a:solidFill>
            <a:srgbClr val="4DB8A4"/>
          </a:solidFill>
          <a:ln/>
        </p:spPr>
      </p:sp>
      <p:sp>
        <p:nvSpPr>
          <p:cNvPr id="35" name="Text 33"/>
          <p:cNvSpPr/>
          <p:nvPr/>
        </p:nvSpPr>
        <p:spPr>
          <a:xfrm>
            <a:off x="4361688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18888" y="256032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Streams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818888" y="2798064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daily batch with Kafka streaming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61688" y="3154680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Snowpipe Streaming + Kafka ingestion; intraday re-generation on breaking news.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61688" y="3767328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B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effort: ~6 weeks · infra complexity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24528" y="4160520"/>
            <a:ext cx="3712464" cy="1600200"/>
          </a:xfrm>
          <a:prstGeom prst="roundRect">
            <a:avLst>
              <a:gd name="adj" fmla="val 4571"/>
            </a:avLst>
          </a:prstGeom>
          <a:solidFill>
            <a:srgbClr val="F3EEE2">
              <a:alpha val="70000"/>
            </a:srgbClr>
          </a:solidFill>
          <a:ln w="15240">
            <a:solidFill>
              <a:srgbClr val="4DB8A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61688" y="4297680"/>
            <a:ext cx="365760" cy="365760"/>
          </a:xfrm>
          <a:prstGeom prst="ellipse">
            <a:avLst/>
          </a:prstGeom>
          <a:solidFill>
            <a:srgbClr val="4DB8A4"/>
          </a:solidFill>
          <a:ln/>
        </p:spPr>
      </p:sp>
      <p:sp>
        <p:nvSpPr>
          <p:cNvPr id="42" name="Text 40"/>
          <p:cNvSpPr/>
          <p:nvPr/>
        </p:nvSpPr>
        <p:spPr>
          <a:xfrm>
            <a:off x="4361688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18888" y="425196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Reports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818888" y="4489704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 whole watchlist, not one ticker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361688" y="4846320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matrix, sector exposure, concentration risk; new aggregation layer in dbt.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361688" y="5458968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B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effort: ~4 weeks · new analytics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991856" y="2468880"/>
            <a:ext cx="3712464" cy="1600200"/>
          </a:xfrm>
          <a:prstGeom prst="roundRect">
            <a:avLst>
              <a:gd name="adj" fmla="val 4571"/>
            </a:avLst>
          </a:prstGeom>
          <a:solidFill>
            <a:srgbClr val="F3EEE2">
              <a:alpha val="70000"/>
            </a:srgbClr>
          </a:solidFill>
          <a:ln w="15240">
            <a:solidFill>
              <a:srgbClr val="1A30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29016" y="2606040"/>
            <a:ext cx="365760" cy="365760"/>
          </a:xfrm>
          <a:prstGeom prst="ellipse">
            <a:avLst/>
          </a:prstGeom>
          <a:solidFill>
            <a:srgbClr val="1A3055"/>
          </a:solidFill>
          <a:ln/>
        </p:spPr>
      </p:sp>
      <p:sp>
        <p:nvSpPr>
          <p:cNvPr id="49" name="Text 47"/>
          <p:cNvSpPr/>
          <p:nvPr/>
        </p:nvSpPr>
        <p:spPr>
          <a:xfrm>
            <a:off x="8129016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586216" y="256032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Domain Model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586216" y="2798064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Finance-specialized LLM for analysis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129016" y="3154680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Mistral / Llama on 50K labeled analyst reports; stronger citations + domain fluency.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129016" y="3767328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effort: ~3 months · data curation hard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91856" y="4160520"/>
            <a:ext cx="3712464" cy="1600200"/>
          </a:xfrm>
          <a:prstGeom prst="roundRect">
            <a:avLst>
              <a:gd name="adj" fmla="val 4571"/>
            </a:avLst>
          </a:prstGeom>
          <a:solidFill>
            <a:srgbClr val="F3EEE2">
              <a:alpha val="70000"/>
            </a:srgbClr>
          </a:solidFill>
          <a:ln w="15240">
            <a:solidFill>
              <a:srgbClr val="1A30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29016" y="4297680"/>
            <a:ext cx="365760" cy="365760"/>
          </a:xfrm>
          <a:prstGeom prst="ellipse">
            <a:avLst/>
          </a:prstGeom>
          <a:solidFill>
            <a:srgbClr val="1A3055"/>
          </a:solidFill>
          <a:ln/>
        </p:spPr>
      </p:sp>
      <p:sp>
        <p:nvSpPr>
          <p:cNvPr id="56" name="Text 54"/>
          <p:cNvSpPr/>
          <p:nvPr/>
        </p:nvSpPr>
        <p:spPr>
          <a:xfrm>
            <a:off x="8129016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586216" y="425196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Multi-Tenant SaaS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8586216" y="4489704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onboarding, SSO, billing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129016" y="4846320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Snowflake schemas, Stripe billing, audit logs, SOC-2 compliance path.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129016" y="5458968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effort: ~4 months · commercialization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" y="5806440"/>
            <a:ext cx="11247120" cy="347472"/>
          </a:xfrm>
          <a:prstGeom prst="roundRect">
            <a:avLst>
              <a:gd name="adj" fmla="val 13158"/>
            </a:avLst>
          </a:prstGeom>
          <a:solidFill>
            <a:srgbClr val="F3EEE2"/>
          </a:solidFill>
          <a:ln w="9525">
            <a:solidFill>
              <a:srgbClr val="D4A843">
                <a:alpha val="5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58064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CONTINUOUS · PARALLEL TRACKS   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 · Cost observability · Agent marketplace · Accessibility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3EEE2"/>
          </a:solidFill>
          <a:ln/>
        </p:spPr>
      </p:sp>
      <p:sp>
        <p:nvSpPr>
          <p:cNvPr id="64" name="Shape 62"/>
          <p:cNvSpPr/>
          <p:nvPr/>
        </p:nvSpPr>
        <p:spPr>
          <a:xfrm>
            <a:off x="457200" y="6172200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5" name="Text 63"/>
          <p:cNvSpPr/>
          <p:nvPr/>
        </p:nvSpPr>
        <p:spPr>
          <a:xfrm>
            <a:off x="685800" y="6199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this shows: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Three-horizon roadmap with 6 enhancements plus 4 continuous tracks that run in parallel. Each item has an effort estimate so stakeholders can prioritize honestly.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4DB8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pPr indent="0" marL="0">
              <a:buNone/>
            </a:pPr>
            <a:r>
              <a:rPr lang="en-US" sz="2000" b="1" dirty="0">
                <a:solidFill>
                  <a:srgbClr val="72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91640" y="182880"/>
            <a:ext cx="10973" cy="146304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731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2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338560" y="731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FinSage exists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equity research vs. AI-powered automation — the time and cost gap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5303520" cy="4572000"/>
          </a:xfrm>
          <a:prstGeom prst="roundRect">
            <a:avLst>
              <a:gd name="adj" fmla="val 3158"/>
            </a:avLst>
          </a:prstGeom>
          <a:solidFill>
            <a:srgbClr val="F3EEE2"/>
          </a:solidFill>
          <a:ln w="12700">
            <a:solidFill>
              <a:srgbClr val="5A6F8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RESEARCH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19456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4A8EC0">
              <a:alpha val="40000"/>
            </a:srgbClr>
          </a:solidFill>
          <a:ln w="6350">
            <a:solidFill>
              <a:srgbClr val="5A6F86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286000"/>
            <a:ext cx="502920" cy="54864"/>
          </a:xfrm>
          <a:prstGeom prst="rect">
            <a:avLst/>
          </a:prstGeom>
          <a:solidFill>
            <a:srgbClr val="1A3055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2395728"/>
            <a:ext cx="36576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" y="2468880"/>
            <a:ext cx="45720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54480" y="219456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D4A843">
              <a:alpha val="40000"/>
            </a:srgbClr>
          </a:solidFill>
          <a:ln w="6350">
            <a:solidFill>
              <a:srgbClr val="5A6F86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27632" y="2286000"/>
            <a:ext cx="502920" cy="54864"/>
          </a:xfrm>
          <a:prstGeom prst="rect">
            <a:avLst/>
          </a:prstGeom>
          <a:solidFill>
            <a:srgbClr val="1A3055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27632" y="2395728"/>
            <a:ext cx="36576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7632" y="2468880"/>
            <a:ext cx="45720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0" y="219456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72D4BF">
              <a:alpha val="40000"/>
            </a:srgbClr>
          </a:solidFill>
          <a:ln w="6350">
            <a:solidFill>
              <a:srgbClr val="5A6F86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59152" y="2286000"/>
            <a:ext cx="502920" cy="54864"/>
          </a:xfrm>
          <a:prstGeom prst="rect">
            <a:avLst/>
          </a:prstGeom>
          <a:solidFill>
            <a:srgbClr val="1A3055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59152" y="2395728"/>
            <a:ext cx="36576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59152" y="2468880"/>
            <a:ext cx="45720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17520" y="219456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8DDC8">
              <a:alpha val="40000"/>
            </a:srgbClr>
          </a:solidFill>
          <a:ln w="6350">
            <a:solidFill>
              <a:srgbClr val="5A6F86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90672" y="2286000"/>
            <a:ext cx="502920" cy="54864"/>
          </a:xfrm>
          <a:prstGeom prst="rect">
            <a:avLst/>
          </a:prstGeom>
          <a:solidFill>
            <a:srgbClr val="1A3055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90672" y="2395728"/>
            <a:ext cx="36576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90672" y="2468880"/>
            <a:ext cx="45720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749040" y="219456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C7562A">
              <a:alpha val="40000"/>
            </a:srgbClr>
          </a:solidFill>
          <a:ln w="6350">
            <a:solidFill>
              <a:srgbClr val="5A6F86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22192" y="2286000"/>
            <a:ext cx="502920" cy="54864"/>
          </a:xfrm>
          <a:prstGeom prst="rect">
            <a:avLst/>
          </a:prstGeom>
          <a:solidFill>
            <a:srgbClr val="1A3055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822192" y="2395728"/>
            <a:ext cx="36576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822192" y="2468880"/>
            <a:ext cx="45720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88720" y="26974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4A8EC0">
              <a:alpha val="40000"/>
            </a:srgbClr>
          </a:solidFill>
          <a:ln w="6350">
            <a:solidFill>
              <a:srgbClr val="5A6F86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61872" y="2788920"/>
            <a:ext cx="502920" cy="54864"/>
          </a:xfrm>
          <a:prstGeom prst="rect">
            <a:avLst/>
          </a:prstGeom>
          <a:solidFill>
            <a:srgbClr val="1A3055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61872" y="2898648"/>
            <a:ext cx="36576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261872" y="2971800"/>
            <a:ext cx="45720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920240" y="26974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D4A843">
              <a:alpha val="40000"/>
            </a:srgbClr>
          </a:solidFill>
          <a:ln w="6350">
            <a:solidFill>
              <a:srgbClr val="5A6F86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93392" y="2788920"/>
            <a:ext cx="502920" cy="54864"/>
          </a:xfrm>
          <a:prstGeom prst="rect">
            <a:avLst/>
          </a:prstGeom>
          <a:solidFill>
            <a:srgbClr val="1A3055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993392" y="2898648"/>
            <a:ext cx="36576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993392" y="2971800"/>
            <a:ext cx="45720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651760" y="26974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72D4BF">
              <a:alpha val="40000"/>
            </a:srgbClr>
          </a:solidFill>
          <a:ln w="6350">
            <a:solidFill>
              <a:srgbClr val="5A6F86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24912" y="2788920"/>
            <a:ext cx="502920" cy="54864"/>
          </a:xfrm>
          <a:prstGeom prst="rect">
            <a:avLst/>
          </a:prstGeom>
          <a:solidFill>
            <a:srgbClr val="1A3055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724912" y="2898648"/>
            <a:ext cx="36576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724912" y="2971800"/>
            <a:ext cx="45720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383280" y="26974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E8DDC8">
              <a:alpha val="40000"/>
            </a:srgbClr>
          </a:solidFill>
          <a:ln w="6350">
            <a:solidFill>
              <a:srgbClr val="5A6F86">
                <a:alpha val="5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56432" y="2788920"/>
            <a:ext cx="502920" cy="54864"/>
          </a:xfrm>
          <a:prstGeom prst="rect">
            <a:avLst/>
          </a:prstGeom>
          <a:solidFill>
            <a:srgbClr val="1A3055">
              <a:alpha val="6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456432" y="2898648"/>
            <a:ext cx="36576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456432" y="2971800"/>
            <a:ext cx="45720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0" y="2697480"/>
            <a:ext cx="685800" cy="457200"/>
          </a:xfrm>
          <a:prstGeom prst="roundRect">
            <a:avLst>
              <a:gd name="adj" fmla="val 8000"/>
            </a:avLst>
          </a:prstGeom>
          <a:solidFill>
            <a:srgbClr val="C7562A">
              <a:alpha val="40000"/>
            </a:srgbClr>
          </a:solidFill>
          <a:ln w="6350">
            <a:solidFill>
              <a:srgbClr val="5A6F86">
                <a:alpha val="5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87952" y="2788920"/>
            <a:ext cx="502920" cy="54864"/>
          </a:xfrm>
          <a:prstGeom prst="rect">
            <a:avLst/>
          </a:prstGeom>
          <a:solidFill>
            <a:srgbClr val="1A3055">
              <a:alpha val="6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4187952" y="2898648"/>
            <a:ext cx="36576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187952" y="2971800"/>
            <a:ext cx="457200" cy="36576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240280" y="3520440"/>
            <a:ext cx="1737360" cy="1737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56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08960" y="4389120"/>
            <a:ext cx="0" cy="-502920"/>
          </a:xfrm>
          <a:prstGeom prst="line">
            <a:avLst/>
          </a:prstGeom>
          <a:noFill/>
          <a:ln w="25400">
            <a:solidFill>
              <a:srgbClr val="C756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08960" y="4389120"/>
            <a:ext cx="411480" cy="0"/>
          </a:xfrm>
          <a:prstGeom prst="line">
            <a:avLst/>
          </a:prstGeom>
          <a:noFill/>
          <a:ln w="25400">
            <a:solidFill>
              <a:srgbClr val="C756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54096" y="4334256"/>
            <a:ext cx="109728" cy="109728"/>
          </a:xfrm>
          <a:prstGeom prst="ellipse">
            <a:avLst/>
          </a:prstGeom>
          <a:solidFill>
            <a:srgbClr val="C7562A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5346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7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hours</a:t>
            </a:r>
            <a:endParaRPr lang="en-US" sz="3200" dirty="0"/>
          </a:p>
        </p:txBody>
      </p:sp>
      <p:sp>
        <p:nvSpPr>
          <p:cNvPr id="57" name="Text 55"/>
          <p:cNvSpPr/>
          <p:nvPr/>
        </p:nvSpPr>
        <p:spPr>
          <a:xfrm>
            <a:off x="457200" y="57618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ticker, per day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806440" y="3520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800" dirty="0"/>
          </a:p>
        </p:txBody>
      </p:sp>
      <p:sp>
        <p:nvSpPr>
          <p:cNvPr id="59" name="Shape 57"/>
          <p:cNvSpPr/>
          <p:nvPr/>
        </p:nvSpPr>
        <p:spPr>
          <a:xfrm>
            <a:off x="6400800" y="1600200"/>
            <a:ext cx="5349240" cy="4572000"/>
          </a:xfrm>
          <a:prstGeom prst="roundRect">
            <a:avLst>
              <a:gd name="adj" fmla="val 3158"/>
            </a:avLst>
          </a:prstGeom>
          <a:solidFill>
            <a:srgbClr val="1A3055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17373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72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FINSAGE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927848" y="233172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D4A843"/>
          </a:solidFill>
          <a:ln/>
        </p:spPr>
      </p:sp>
      <p:sp>
        <p:nvSpPr>
          <p:cNvPr id="62" name="Text 60"/>
          <p:cNvSpPr/>
          <p:nvPr/>
        </p:nvSpPr>
        <p:spPr>
          <a:xfrm>
            <a:off x="7927848" y="2331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070848" y="3154680"/>
            <a:ext cx="0" cy="457200"/>
          </a:xfrm>
          <a:prstGeom prst="line">
            <a:avLst/>
          </a:prstGeom>
          <a:noFill/>
          <a:ln w="25400">
            <a:solidFill>
              <a:srgbClr val="72D4BF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522208" y="3657600"/>
            <a:ext cx="1097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2D4B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13648" y="3840480"/>
            <a:ext cx="914400" cy="91440"/>
          </a:xfrm>
          <a:prstGeom prst="rect">
            <a:avLst/>
          </a:prstGeom>
          <a:solidFill>
            <a:srgbClr val="4DB8A4"/>
          </a:solidFill>
          <a:ln/>
        </p:spPr>
      </p:sp>
      <p:sp>
        <p:nvSpPr>
          <p:cNvPr id="66" name="Shape 64"/>
          <p:cNvSpPr/>
          <p:nvPr/>
        </p:nvSpPr>
        <p:spPr>
          <a:xfrm>
            <a:off x="8613648" y="4023360"/>
            <a:ext cx="6400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7" name="Shape 65"/>
          <p:cNvSpPr/>
          <p:nvPr/>
        </p:nvSpPr>
        <p:spPr>
          <a:xfrm>
            <a:off x="8613648" y="4142232"/>
            <a:ext cx="914400" cy="228600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613648" y="4453128"/>
            <a:ext cx="914400" cy="45720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613648" y="4544568"/>
            <a:ext cx="777240" cy="45720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613648" y="4636008"/>
            <a:ext cx="868680" cy="45720"/>
          </a:xfrm>
          <a:prstGeom prst="rect">
            <a:avLst/>
          </a:prstGeom>
          <a:solidFill>
            <a:srgbClr val="1A3055">
              <a:alpha val="3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613648" y="4800600"/>
            <a:ext cx="914400" cy="182880"/>
          </a:xfrm>
          <a:prstGeom prst="rect">
            <a:avLst/>
          </a:prstGeom>
          <a:solidFill>
            <a:srgbClr val="4DB8A4">
              <a:alpha val="4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400800" y="534672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 minutes</a:t>
            </a:r>
            <a:endParaRPr lang="en-US" sz="3200" dirty="0"/>
          </a:p>
        </p:txBody>
      </p:sp>
      <p:sp>
        <p:nvSpPr>
          <p:cNvPr id="73" name="Text 71"/>
          <p:cNvSpPr/>
          <p:nvPr/>
        </p:nvSpPr>
        <p:spPr>
          <a:xfrm>
            <a:off x="6400800" y="576180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 in compute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3EEE2"/>
          </a:solidFill>
          <a:ln/>
        </p:spPr>
      </p:sp>
      <p:sp>
        <p:nvSpPr>
          <p:cNvPr id="75" name="Shape 73"/>
          <p:cNvSpPr/>
          <p:nvPr/>
        </p:nvSpPr>
        <p:spPr>
          <a:xfrm>
            <a:off x="457200" y="6172200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6" name="Text 74"/>
          <p:cNvSpPr/>
          <p:nvPr/>
        </p:nvSpPr>
        <p:spPr>
          <a:xfrm>
            <a:off x="685800" y="6199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this shows: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30M+ new retail brokerage accounts since 2020, but &lt;10% of US stocks have institutional coverage. FinSage fills that gap — automated research in under 7 minutes for ~$2.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4DB8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pPr indent="0" marL="0">
              <a:buNone/>
            </a:pPr>
            <a:r>
              <a:rPr lang="en-US" sz="2000" b="1" dirty="0">
                <a:solidFill>
                  <a:srgbClr val="72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91640" y="182880"/>
            <a:ext cx="10973" cy="146304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731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2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338560" y="731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5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3 frontier systems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scoring of 4 AAPL reports across 7 dimensions — FinSage vs ChatGPT (both modes) vs Claude Opus 4.7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2011680" cy="54864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600200"/>
            <a:ext cx="1234440" cy="54864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600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1600200"/>
            <a:ext cx="1417320" cy="54864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1600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1600200"/>
            <a:ext cx="1234440" cy="54864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600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1600200"/>
            <a:ext cx="1417320" cy="54864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600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48840"/>
            <a:ext cx="2011680" cy="411480"/>
          </a:xfrm>
          <a:prstGeom prst="rect">
            <a:avLst/>
          </a:prstGeom>
          <a:solidFill>
            <a:srgbClr val="F3EEE2"/>
          </a:solidFill>
          <a:ln w="6350">
            <a:solidFill>
              <a:srgbClr val="E8DD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1488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8880" y="2148840"/>
            <a:ext cx="1234440" cy="411480"/>
          </a:xfrm>
          <a:prstGeom prst="rect">
            <a:avLst/>
          </a:prstGeom>
          <a:solidFill>
            <a:srgbClr val="4DB8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2148840"/>
            <a:ext cx="36576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1488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703320" y="2148840"/>
            <a:ext cx="1417320" cy="411480"/>
          </a:xfrm>
          <a:prstGeom prst="rect">
            <a:avLst/>
          </a:prstGeom>
          <a:solidFill>
            <a:srgbClr val="D4A843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2148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20640" y="2148840"/>
            <a:ext cx="1234440" cy="411480"/>
          </a:xfrm>
          <a:prstGeom prst="rect">
            <a:avLst/>
          </a:prstGeom>
          <a:solidFill>
            <a:srgbClr val="4DB8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1488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55080" y="2148840"/>
            <a:ext cx="1417320" cy="411480"/>
          </a:xfrm>
          <a:prstGeom prst="rect">
            <a:avLst/>
          </a:prstGeom>
          <a:solidFill>
            <a:srgbClr val="4DB8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148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256032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25603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Integration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68880" y="2560320"/>
            <a:ext cx="1234440" cy="411480"/>
          </a:xfrm>
          <a:prstGeom prst="rect">
            <a:avLst/>
          </a:prstGeom>
          <a:solidFill>
            <a:srgbClr val="4DB8A4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2560320"/>
            <a:ext cx="36576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5" name="Text 33"/>
          <p:cNvSpPr/>
          <p:nvPr/>
        </p:nvSpPr>
        <p:spPr>
          <a:xfrm>
            <a:off x="2468880" y="25603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703320" y="2560320"/>
            <a:ext cx="1417320" cy="411480"/>
          </a:xfrm>
          <a:prstGeom prst="rect">
            <a:avLst/>
          </a:prstGeom>
          <a:solidFill>
            <a:srgbClr val="C7562A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03320" y="2560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120640" y="2560320"/>
            <a:ext cx="1234440" cy="411480"/>
          </a:xfrm>
          <a:prstGeom prst="rect">
            <a:avLst/>
          </a:prstGeom>
          <a:solidFill>
            <a:srgbClr val="4DB8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25603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55080" y="2560320"/>
            <a:ext cx="1417320" cy="411480"/>
          </a:xfrm>
          <a:prstGeom prst="rect">
            <a:avLst/>
          </a:prstGeom>
          <a:solidFill>
            <a:srgbClr val="4DB8A4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560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" y="2971800"/>
            <a:ext cx="2011680" cy="411480"/>
          </a:xfrm>
          <a:prstGeom prst="rect">
            <a:avLst/>
          </a:prstGeom>
          <a:solidFill>
            <a:srgbClr val="F3EEE2"/>
          </a:solidFill>
          <a:ln w="6350">
            <a:solidFill>
              <a:srgbClr val="E8DD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297180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Depth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468880" y="2971800"/>
            <a:ext cx="1234440" cy="411480"/>
          </a:xfrm>
          <a:prstGeom prst="rect">
            <a:avLst/>
          </a:prstGeom>
          <a:solidFill>
            <a:srgbClr val="4DB8A4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68880" y="2971800"/>
            <a:ext cx="36576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6" name="Text 44"/>
          <p:cNvSpPr/>
          <p:nvPr/>
        </p:nvSpPr>
        <p:spPr>
          <a:xfrm>
            <a:off x="2468880" y="2971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703320" y="2971800"/>
            <a:ext cx="1417320" cy="411480"/>
          </a:xfrm>
          <a:prstGeom prst="rect">
            <a:avLst/>
          </a:prstGeom>
          <a:solidFill>
            <a:srgbClr val="C7562A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03320" y="29718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120640" y="2971800"/>
            <a:ext cx="1234440" cy="411480"/>
          </a:xfrm>
          <a:prstGeom prst="rect">
            <a:avLst/>
          </a:prstGeom>
          <a:solidFill>
            <a:srgbClr val="4DB8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2971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355080" y="2971800"/>
            <a:ext cx="1417320" cy="411480"/>
          </a:xfrm>
          <a:prstGeom prst="rect">
            <a:avLst/>
          </a:prstGeom>
          <a:solidFill>
            <a:srgbClr val="4DB8A4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29718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57200" y="338328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C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338328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Visuals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468880" y="3383280"/>
            <a:ext cx="1234440" cy="411480"/>
          </a:xfrm>
          <a:prstGeom prst="rect">
            <a:avLst/>
          </a:prstGeom>
          <a:solidFill>
            <a:srgbClr val="4DB8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68880" y="3383280"/>
            <a:ext cx="36576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7" name="Text 55"/>
          <p:cNvSpPr/>
          <p:nvPr/>
        </p:nvSpPr>
        <p:spPr>
          <a:xfrm>
            <a:off x="2468880" y="33832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703320" y="3383280"/>
            <a:ext cx="1417320" cy="411480"/>
          </a:xfrm>
          <a:prstGeom prst="rect">
            <a:avLst/>
          </a:prstGeom>
          <a:solidFill>
            <a:srgbClr val="C7562A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03320" y="3383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120640" y="3383280"/>
            <a:ext cx="1234440" cy="411480"/>
          </a:xfrm>
          <a:prstGeom prst="rect">
            <a:avLst/>
          </a:prstGeom>
          <a:solidFill>
            <a:srgbClr val="D4A843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0" y="33832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355080" y="3383280"/>
            <a:ext cx="1417320" cy="411480"/>
          </a:xfrm>
          <a:prstGeom prst="rect">
            <a:avLst/>
          </a:prstGeom>
          <a:solidFill>
            <a:srgbClr val="C7562A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55080" y="33832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457200" y="3794760"/>
            <a:ext cx="2011680" cy="411480"/>
          </a:xfrm>
          <a:prstGeom prst="rect">
            <a:avLst/>
          </a:prstGeom>
          <a:solidFill>
            <a:srgbClr val="F3EEE2"/>
          </a:solidFill>
          <a:ln w="6350">
            <a:solidFill>
              <a:srgbClr val="E8DDC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37947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468880" y="3794760"/>
            <a:ext cx="1234440" cy="411480"/>
          </a:xfrm>
          <a:prstGeom prst="rect">
            <a:avLst/>
          </a:prstGeom>
          <a:solidFill>
            <a:srgbClr val="4DB8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68880" y="3794760"/>
            <a:ext cx="36576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8" name="Text 66"/>
          <p:cNvSpPr/>
          <p:nvPr/>
        </p:nvSpPr>
        <p:spPr>
          <a:xfrm>
            <a:off x="2468880" y="37947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703320" y="3794760"/>
            <a:ext cx="1417320" cy="411480"/>
          </a:xfrm>
          <a:prstGeom prst="rect">
            <a:avLst/>
          </a:prstGeom>
          <a:solidFill>
            <a:srgbClr val="C7562A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03320" y="3794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120640" y="3794760"/>
            <a:ext cx="1234440" cy="411480"/>
          </a:xfrm>
          <a:prstGeom prst="rect">
            <a:avLst/>
          </a:prstGeom>
          <a:solidFill>
            <a:srgbClr val="4DB8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20640" y="37947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355080" y="3794760"/>
            <a:ext cx="1417320" cy="411480"/>
          </a:xfrm>
          <a:prstGeom prst="rect">
            <a:avLst/>
          </a:prstGeom>
          <a:solidFill>
            <a:srgbClr val="D4A843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55080" y="3794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457200" y="420624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C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6928" y="420624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Coherence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468880" y="4206240"/>
            <a:ext cx="1234440" cy="411480"/>
          </a:xfrm>
          <a:prstGeom prst="rect">
            <a:avLst/>
          </a:prstGeom>
          <a:solidFill>
            <a:srgbClr val="4DB8A4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468880" y="4206240"/>
            <a:ext cx="36576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9" name="Text 77"/>
          <p:cNvSpPr/>
          <p:nvPr/>
        </p:nvSpPr>
        <p:spPr>
          <a:xfrm>
            <a:off x="2468880" y="4206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3703320" y="4206240"/>
            <a:ext cx="1417320" cy="411480"/>
          </a:xfrm>
          <a:prstGeom prst="rect">
            <a:avLst/>
          </a:prstGeom>
          <a:solidFill>
            <a:srgbClr val="D4A843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03320" y="4206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5120640" y="4206240"/>
            <a:ext cx="1234440" cy="411480"/>
          </a:xfrm>
          <a:prstGeom prst="rect">
            <a:avLst/>
          </a:prstGeom>
          <a:solidFill>
            <a:srgbClr val="4DB8A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20640" y="4206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6355080" y="4206240"/>
            <a:ext cx="1417320" cy="411480"/>
          </a:xfrm>
          <a:prstGeom prst="rect">
            <a:avLst/>
          </a:prstGeom>
          <a:solidFill>
            <a:srgbClr val="4DB8A4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55080" y="4206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457200" y="4617720"/>
            <a:ext cx="2011680" cy="411480"/>
          </a:xfrm>
          <a:prstGeom prst="rect">
            <a:avLst/>
          </a:prstGeom>
          <a:solidFill>
            <a:srgbClr val="F3EEE2"/>
          </a:solidFill>
          <a:ln w="6350">
            <a:solidFill>
              <a:srgbClr val="E8DDC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66928" y="46177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2468880" y="4617720"/>
            <a:ext cx="1234440" cy="411480"/>
          </a:xfrm>
          <a:prstGeom prst="rect">
            <a:avLst/>
          </a:prstGeom>
          <a:solidFill>
            <a:srgbClr val="4DB8A4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468880" y="4617720"/>
            <a:ext cx="36576" cy="411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0" name="Text 88"/>
          <p:cNvSpPr/>
          <p:nvPr/>
        </p:nvSpPr>
        <p:spPr>
          <a:xfrm>
            <a:off x="2468880" y="46177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3703320" y="4617720"/>
            <a:ext cx="1417320" cy="411480"/>
          </a:xfrm>
          <a:prstGeom prst="rect">
            <a:avLst/>
          </a:prstGeom>
          <a:solidFill>
            <a:srgbClr val="C7562A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703320" y="46177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5120640" y="4617720"/>
            <a:ext cx="1234440" cy="411480"/>
          </a:xfrm>
          <a:prstGeom prst="rect">
            <a:avLst/>
          </a:prstGeom>
          <a:solidFill>
            <a:srgbClr val="4DB8A4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120640" y="46177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6355080" y="4617720"/>
            <a:ext cx="1417320" cy="411480"/>
          </a:xfrm>
          <a:prstGeom prst="rect">
            <a:avLst/>
          </a:prstGeom>
          <a:solidFill>
            <a:srgbClr val="4DB8A4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355080" y="46177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457200" y="5029200"/>
            <a:ext cx="2011680" cy="502920"/>
          </a:xfrm>
          <a:prstGeom prst="rect">
            <a:avLst/>
          </a:prstGeom>
          <a:solidFill>
            <a:srgbClr val="1A3055"/>
          </a:solidFill>
          <a:ln/>
        </p:spPr>
      </p:sp>
      <p:sp>
        <p:nvSpPr>
          <p:cNvPr id="98" name="Text 96"/>
          <p:cNvSpPr/>
          <p:nvPr/>
        </p:nvSpPr>
        <p:spPr>
          <a:xfrm>
            <a:off x="457200" y="5029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2468880" y="5029200"/>
            <a:ext cx="1234440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0" name="Text 98"/>
          <p:cNvSpPr/>
          <p:nvPr/>
        </p:nvSpPr>
        <p:spPr>
          <a:xfrm>
            <a:off x="2468880" y="5029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3703320" y="5029200"/>
            <a:ext cx="1417320" cy="502920"/>
          </a:xfrm>
          <a:prstGeom prst="rect">
            <a:avLst/>
          </a:prstGeom>
          <a:solidFill>
            <a:srgbClr val="5A6F86"/>
          </a:solidFill>
          <a:ln/>
        </p:spPr>
      </p:sp>
      <p:sp>
        <p:nvSpPr>
          <p:cNvPr id="102" name="Text 100"/>
          <p:cNvSpPr/>
          <p:nvPr/>
        </p:nvSpPr>
        <p:spPr>
          <a:xfrm>
            <a:off x="3703320" y="5029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3.95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5120640" y="5029200"/>
            <a:ext cx="1234440" cy="502920"/>
          </a:xfrm>
          <a:prstGeom prst="rect">
            <a:avLst/>
          </a:prstGeom>
          <a:solidFill>
            <a:srgbClr val="2D6FA0"/>
          </a:solidFill>
          <a:ln/>
        </p:spPr>
      </p:sp>
      <p:sp>
        <p:nvSpPr>
          <p:cNvPr id="104" name="Text 102"/>
          <p:cNvSpPr/>
          <p:nvPr/>
        </p:nvSpPr>
        <p:spPr>
          <a:xfrm>
            <a:off x="5120640" y="5029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6355080" y="5029200"/>
            <a:ext cx="1417320" cy="502920"/>
          </a:xfrm>
          <a:prstGeom prst="rect">
            <a:avLst/>
          </a:prstGeom>
          <a:solidFill>
            <a:srgbClr val="5A6F86"/>
          </a:solidFill>
          <a:ln/>
        </p:spPr>
      </p:sp>
      <p:sp>
        <p:nvSpPr>
          <p:cNvPr id="106" name="Text 104"/>
          <p:cNvSpPr/>
          <p:nvPr/>
        </p:nvSpPr>
        <p:spPr>
          <a:xfrm>
            <a:off x="6355080" y="5029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</a:t>
            </a:r>
            <a:endParaRPr lang="en-US" sz="1600" dirty="0"/>
          </a:p>
        </p:txBody>
      </p:sp>
      <p:sp>
        <p:nvSpPr>
          <p:cNvPr id="107" name="Text 105"/>
          <p:cNvSpPr/>
          <p:nvPr/>
        </p:nvSpPr>
        <p:spPr>
          <a:xfrm>
            <a:off x="7955280" y="1600200"/>
            <a:ext cx="3779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HEAD-TO-HEAD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7955280" y="1810512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FinSage wins</a:t>
            </a:r>
            <a:endParaRPr lang="en-US" sz="1600" dirty="0"/>
          </a:p>
        </p:txBody>
      </p:sp>
      <p:sp>
        <p:nvSpPr>
          <p:cNvPr id="109" name="Shape 107"/>
          <p:cNvSpPr/>
          <p:nvPr/>
        </p:nvSpPr>
        <p:spPr>
          <a:xfrm>
            <a:off x="7955280" y="2286000"/>
            <a:ext cx="3779215" cy="685800"/>
          </a:xfrm>
          <a:prstGeom prst="roundRect">
            <a:avLst>
              <a:gd name="adj" fmla="val 10667"/>
            </a:avLst>
          </a:prstGeom>
          <a:solidFill>
            <a:srgbClr val="F3EEE2">
              <a:alpha val="8000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092440" y="2404872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1" name="Text 109"/>
          <p:cNvSpPr/>
          <p:nvPr/>
        </p:nvSpPr>
        <p:spPr>
          <a:xfrm>
            <a:off x="80924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112" name="Text 110"/>
          <p:cNvSpPr/>
          <p:nvPr/>
        </p:nvSpPr>
        <p:spPr>
          <a:xfrm>
            <a:off x="8641080" y="2359152"/>
            <a:ext cx="2956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Visuals</a:t>
            </a:r>
            <a:endParaRPr lang="en-US" sz="1300" dirty="0"/>
          </a:p>
        </p:txBody>
      </p:sp>
      <p:sp>
        <p:nvSpPr>
          <p:cNvPr id="113" name="Text 111"/>
          <p:cNvSpPr/>
          <p:nvPr/>
        </p:nvSpPr>
        <p:spPr>
          <a:xfrm>
            <a:off x="8641080" y="265176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next-best: 6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7955280" y="3063240"/>
            <a:ext cx="3779215" cy="685800"/>
          </a:xfrm>
          <a:prstGeom prst="roundRect">
            <a:avLst>
              <a:gd name="adj" fmla="val 10667"/>
            </a:avLst>
          </a:prstGeom>
          <a:solidFill>
            <a:srgbClr val="F3EEE2">
              <a:alpha val="80000"/>
            </a:srgbClr>
          </a:solidFill>
          <a:ln w="19050">
            <a:solidFill>
              <a:srgbClr val="4DB8A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092440" y="3182112"/>
            <a:ext cx="457200" cy="457200"/>
          </a:xfrm>
          <a:prstGeom prst="ellipse">
            <a:avLst/>
          </a:prstGeom>
          <a:solidFill>
            <a:srgbClr val="4DB8A4"/>
          </a:solidFill>
          <a:ln/>
        </p:spPr>
      </p:sp>
      <p:sp>
        <p:nvSpPr>
          <p:cNvPr id="116" name="Text 114"/>
          <p:cNvSpPr/>
          <p:nvPr/>
        </p:nvSpPr>
        <p:spPr>
          <a:xfrm>
            <a:off x="809244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17" name="Text 115"/>
          <p:cNvSpPr/>
          <p:nvPr/>
        </p:nvSpPr>
        <p:spPr>
          <a:xfrm>
            <a:off x="8641080" y="3136392"/>
            <a:ext cx="2956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18" name="Text 116"/>
          <p:cNvSpPr/>
          <p:nvPr/>
        </p:nvSpPr>
        <p:spPr>
          <a:xfrm>
            <a:off x="8641080" y="342900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next-best: 9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7955280" y="3840480"/>
            <a:ext cx="3779215" cy="685800"/>
          </a:xfrm>
          <a:prstGeom prst="roundRect">
            <a:avLst>
              <a:gd name="adj" fmla="val 10667"/>
            </a:avLst>
          </a:prstGeom>
          <a:solidFill>
            <a:srgbClr val="F3EEE2">
              <a:alpha val="80000"/>
            </a:srgbClr>
          </a:solidFill>
          <a:ln w="19050">
            <a:solidFill>
              <a:srgbClr val="2D6FA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092440" y="3959352"/>
            <a:ext cx="457200" cy="457200"/>
          </a:xfrm>
          <a:prstGeom prst="ellipse">
            <a:avLst/>
          </a:prstGeom>
          <a:solidFill>
            <a:srgbClr val="2D6FA0"/>
          </a:solidFill>
          <a:ln/>
        </p:spPr>
      </p:sp>
      <p:sp>
        <p:nvSpPr>
          <p:cNvPr id="121" name="Text 119"/>
          <p:cNvSpPr/>
          <p:nvPr/>
        </p:nvSpPr>
        <p:spPr>
          <a:xfrm>
            <a:off x="80924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122" name="Text 120"/>
          <p:cNvSpPr/>
          <p:nvPr/>
        </p:nvSpPr>
        <p:spPr>
          <a:xfrm>
            <a:off x="8641080" y="3913632"/>
            <a:ext cx="2956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</a:t>
            </a:r>
            <a:endParaRPr lang="en-US" sz="1300" dirty="0"/>
          </a:p>
        </p:txBody>
      </p:sp>
      <p:sp>
        <p:nvSpPr>
          <p:cNvPr id="123" name="Text 121"/>
          <p:cNvSpPr/>
          <p:nvPr/>
        </p:nvSpPr>
        <p:spPr>
          <a:xfrm>
            <a:off x="8641080" y="420624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with Opus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7955280" y="4754880"/>
            <a:ext cx="3779215" cy="960120"/>
          </a:xfrm>
          <a:prstGeom prst="roundRect">
            <a:avLst>
              <a:gd name="adj" fmla="val 7619"/>
            </a:avLst>
          </a:prstGeom>
          <a:solidFill>
            <a:srgbClr val="1A3055"/>
          </a:solidFill>
          <a:ln/>
        </p:spPr>
      </p:sp>
      <p:sp>
        <p:nvSpPr>
          <p:cNvPr id="125" name="Text 123"/>
          <p:cNvSpPr/>
          <p:nvPr/>
        </p:nvSpPr>
        <p:spPr>
          <a:xfrm>
            <a:off x="7955280" y="4828032"/>
            <a:ext cx="37792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2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 SCORE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955280" y="5010912"/>
            <a:ext cx="3779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</a:t>
            </a:r>
            <a:endParaRPr lang="en-US" sz="4400" dirty="0"/>
          </a:p>
        </p:txBody>
      </p:sp>
      <p:sp>
        <p:nvSpPr>
          <p:cNvPr id="127" name="Text 125"/>
          <p:cNvSpPr/>
          <p:nvPr/>
        </p:nvSpPr>
        <p:spPr>
          <a:xfrm>
            <a:off x="7955280" y="5504688"/>
            <a:ext cx="37792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D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of 4   ·   behind Opus 4.7 (8.7)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F3EEE2"/>
          </a:solidFill>
          <a:ln/>
        </p:spPr>
      </p:sp>
      <p:sp>
        <p:nvSpPr>
          <p:cNvPr id="129" name="Shape 127"/>
          <p:cNvSpPr/>
          <p:nvPr/>
        </p:nvSpPr>
        <p:spPr>
          <a:xfrm>
            <a:off x="457200" y="6172200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0" name="Text 128"/>
          <p:cNvSpPr/>
          <p:nvPr/>
        </p:nvSpPr>
        <p:spPr>
          <a:xfrm>
            <a:off x="685800" y="6199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this shows: 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FinSage beats ChatGPT Thinking (6.9) and Instant (3.95); trails Opus 4.7 (8.7) on raw analysis depth but wins decisively on Structure and Charts — the payoff of the CAVM pipeline and VLM self-critique loop.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FinSage</dc:title>
  <dc:subject>PptxGenJS Presentation</dc:subject>
  <dc:creator>Team 8</dc:creator>
  <cp:lastModifiedBy>Team 8</cp:lastModifiedBy>
  <cp:revision>1</cp:revision>
  <dcterms:created xsi:type="dcterms:W3CDTF">2026-04-17T21:28:27Z</dcterms:created>
  <dcterms:modified xsi:type="dcterms:W3CDTF">2026-04-17T21:28:27Z</dcterms:modified>
</cp:coreProperties>
</file>